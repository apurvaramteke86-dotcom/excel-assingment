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60" r:id="rId3"/>
    <p:sldId id="261" r:id="rId4"/>
    <p:sldId id="263" r:id="rId5"/>
    <p:sldId id="264" r:id="rId6"/>
    <p:sldId id="266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of Credit Score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Sheet1!$A$2:$A$4</c:f>
              <c:strCache>
                <c:ptCount val="3"/>
                <c:pt idx="0">
                  <c:v>France</c:v>
                </c:pt>
                <c:pt idx="1">
                  <c:v>Germany</c:v>
                </c:pt>
                <c:pt idx="2">
                  <c:v>Spain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592.54970760233914</c:v>
                </c:pt>
                <c:pt idx="1">
                  <c:v>579.69426751592357</c:v>
                </c:pt>
                <c:pt idx="2">
                  <c:v>600.98837209302326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72-411F-87F8-C7B23BCD56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299627248"/>
        <c:axId val="1299628080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3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3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3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France</c:v>
                      </c:pt>
                      <c:pt idx="1">
                        <c:v>Germany</c:v>
                      </c:pt>
                      <c:pt idx="2">
                        <c:v>Spain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B072-411F-87F8-C7B23BCD56F2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3">
                          <a:shade val="65000"/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3">
                          <a:shade val="65000"/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3">
                          <a:shade val="65000"/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cat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France</c:v>
                      </c:pt>
                      <c:pt idx="1">
                        <c:v>Germany</c:v>
                      </c:pt>
                      <c:pt idx="2">
                        <c:v>Spain</c:v>
                      </c:pt>
                    </c:strCache>
                  </c:str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Sheet1!#REF!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B072-411F-87F8-C7B23BCD56F2}"/>
                  </c:ext>
                </c:extLst>
              </c15:ser>
            </c15:filteredBarSeries>
          </c:ext>
        </c:extLst>
      </c:barChart>
      <c:catAx>
        <c:axId val="1299627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9628080"/>
        <c:crosses val="autoZero"/>
        <c:auto val="1"/>
        <c:lblAlgn val="ctr"/>
        <c:lblOffset val="100"/>
        <c:noMultiLvlLbl val="0"/>
      </c:catAx>
      <c:valAx>
        <c:axId val="1299628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9627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83E555-A933-428C-89D4-67BF3D90682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EEDC4-7470-49EA-AC39-E81024E42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76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EEDC4-7470-49EA-AC39-E81024E425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87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A5427-4DF8-4BC3-BDBD-831B64EC1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F71B2-32C8-4A20-9E88-E821F554E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E495-98B1-4CDA-9D30-BC5EAA813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688E7-640D-40A5-ABD8-352C660267D6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E6EB3-E284-42BA-81F2-06BE79FEB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2D111-8524-47BF-8A07-E2327A84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BA44-E66C-4567-B78A-80A23AAF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85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AC8F0-808D-4EF1-B938-DEC0E00AD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F5892-E2A4-4088-AB74-A9ACCCD59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ED1DD-CB94-44F5-B6F1-5FAF00022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994AB-0D4F-4D0D-888F-9C0459EEBEB5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D4796-6D1A-4985-81A6-6BA3699A9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28858-0503-4BAE-A196-AA8A91EF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BA44-E66C-4567-B78A-80A23AAF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92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D2A01-38CB-4E3D-9EA0-1C1805976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A8B9A-B7F3-47F7-B6E8-0F72C280B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ACBC2-7268-4A54-B540-A6B2391A5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64E1E-C83F-406D-B69E-5178090CFDCF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856F0-719F-4452-96A2-7DA4212BE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D15A4-E768-49C3-A3CF-CB959249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BA44-E66C-4567-B78A-80A23AAF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47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F344-8379-4765-B1DC-F3F1E378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36144-8B3E-4643-9F32-E9AE5E22B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01B31-E570-4D25-9BD6-9A16C18FF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97460-74E0-4B1F-9533-B972F5A5B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1152-F16F-4790-8CC5-27750B3B3048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1E416-A359-4874-9183-4FA51A86E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0AF41-46D4-48EE-AFF5-66089C18B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BA44-E66C-4567-B78A-80A23AAF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51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D070-3460-47A7-AFEF-F7ECE0C77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FAAF2-9238-4A97-AE07-B185FBBE8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2CE0F-494D-4B71-B0D4-D5B378D54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5284EB-FB80-46C1-A769-88C392FAD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A0F71-2972-4992-9681-DE1A4D7C91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39AB6D-39A0-46E7-A4F5-76BAEA842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F040A-B819-4254-82C6-D32A79BE9D89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076B41-036C-46C6-B3DA-88FEB9DF8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83027-E469-45E7-8358-31CE1057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BA44-E66C-4567-B78A-80A23AAF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67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E3DE-38C8-4280-ABAC-4979EF62B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560E2C-04B3-4056-A0AF-8C82D5BB4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78AF-8119-4A97-8721-F1E03F7EA445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B2FD8-E80C-4EC6-A013-2C08D82F5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B0701F-1CF8-4092-B189-8E4962EF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BA44-E66C-4567-B78A-80A23AAF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19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7CF005-FF89-4D17-A333-6C5AD958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42E7-50DC-4EF4-8C09-0AE7D91D2645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589183-10AC-45B7-BE5E-38C981ED9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964A7-1731-4F2A-9E86-2E88E0D7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BA44-E66C-4567-B78A-80A23AAF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985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9192-4EED-4BEC-A91A-6502F8275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419BF-EF45-4ECE-8E0E-EF7288875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0FE2D-741A-46CA-B11C-06D1EC3AE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4555F-BC49-4C55-A003-2B1E2FC1B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F24F6-F65E-4149-9737-92F57E03C09F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C0E1E-DFF5-420D-AA58-559B75378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0613E-5421-48DA-AA53-45D45BDD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BA44-E66C-4567-B78A-80A23AAF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6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70C2-A7BC-4120-9AC6-AE2B50FDC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DAD561-B2B2-4C47-B3B8-A80E130F0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26F97-6CEA-41D8-AFD0-899D149F3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D82B5-96E4-4F98-9D6C-02CEEB69C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5D56C-B894-46E1-AD54-9B17A10D35FA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274E0-3772-4A03-AF20-6952E820B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3AFC60-466E-4576-A647-B827DD268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BA44-E66C-4567-B78A-80A23AAF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8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7BC8-CD71-49CC-9C8F-D87AA58CA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D360A-036D-42BB-A3F6-97C887A1C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B943F-B293-4C22-9435-479D1B28D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5E1C-8499-458A-A20F-03FB053D81F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BB1D8-FCB8-4C48-BDA8-E664C5614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50F60-5171-4AD1-8384-F30445F6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BA44-E66C-4567-B78A-80A23AAF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1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A9AD3-7D01-41D1-9A12-849EA760D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71261-DBE5-40DB-99B3-198DAA08E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246F6-1747-4929-AA18-56D3F500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14E0-2D16-4D05-B99C-A3D84C1C688B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6397E-4983-44F3-820B-5C5230FC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D2522-D72D-4AC7-B540-03634C59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5BA44-E66C-4567-B78A-80A23AAF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187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F614D3-C87B-4439-8E57-F0205ABF4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41E2F-CD58-4C99-9B71-EABE9AD11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6B2C1-9282-47FB-8BB5-E69BD6DA6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08096-2BB8-44B7-BFA2-473FC64021CB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5BE5C-E221-4F39-B030-F9D7F3FDB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8BDBD-638F-4FA2-BD68-E7F27F76F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5BA44-E66C-4567-B78A-80A23AAF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1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B2D614-D657-4918-A8B0-AB2CD86B6027}"/>
              </a:ext>
            </a:extLst>
          </p:cNvPr>
          <p:cNvSpPr/>
          <p:nvPr/>
        </p:nvSpPr>
        <p:spPr>
          <a:xfrm>
            <a:off x="0" y="0"/>
            <a:ext cx="4680000" cy="684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4471FB-8AA2-4C71-8771-7DE6F2130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825" y="1269000"/>
            <a:ext cx="7318350" cy="4320000"/>
          </a:xfrm>
          <a:prstGeom prst="rect">
            <a:avLst/>
          </a:prstGeom>
          <a:ln w="101600" cap="sq">
            <a:solidFill>
              <a:schemeClr val="bg1"/>
            </a:solidFill>
            <a:miter lim="800000"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5F9BC-8FB5-479C-82A9-F56E843BCA28}"/>
              </a:ext>
            </a:extLst>
          </p:cNvPr>
          <p:cNvSpPr txBox="1"/>
          <p:nvPr/>
        </p:nvSpPr>
        <p:spPr>
          <a:xfrm>
            <a:off x="3216000" y="2242377"/>
            <a:ext cx="5760000" cy="21074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800" b="1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Merriweather Bold" pitchFamily="34" charset="-120"/>
              </a:rPr>
              <a:t>Bank Customer Churn Analysis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000" b="1" i="1" dirty="0">
                <a:solidFill>
                  <a:schemeClr val="bg1"/>
                </a:solidFill>
                <a:latin typeface="Bahnschrift" panose="020B0502040204020203" pitchFamily="34" charset="0"/>
                <a:ea typeface="Malgun Gothic" panose="020B0503020000020004" pitchFamily="34" charset="-127"/>
                <a:cs typeface="Merriweather Bold" pitchFamily="34" charset="-120"/>
              </a:rPr>
              <a:t>By Apurva Ramteke</a:t>
            </a:r>
            <a:endParaRPr lang="en-US" sz="3000" i="1" dirty="0">
              <a:solidFill>
                <a:schemeClr val="bg1"/>
              </a:solidFill>
              <a:latin typeface="Bahnschrift" panose="020B0502040204020203" pitchFamily="34" charset="0"/>
              <a:ea typeface="Malgun Gothic" panose="020B0503020000020004" pitchFamily="34" charset="-12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E8A5BE-9BD5-448C-BD61-DE132C0BFA9F}"/>
              </a:ext>
            </a:extLst>
          </p:cNvPr>
          <p:cNvSpPr/>
          <p:nvPr/>
        </p:nvSpPr>
        <p:spPr>
          <a:xfrm>
            <a:off x="11112000" y="5988629"/>
            <a:ext cx="1080000" cy="54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1-17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C3A48F-AE1B-4CBD-94FE-A4303B341E0D}"/>
              </a:ext>
            </a:extLst>
          </p:cNvPr>
          <p:cNvCxnSpPr>
            <a:cxnSpLocks/>
          </p:cNvCxnSpPr>
          <p:nvPr/>
        </p:nvCxnSpPr>
        <p:spPr>
          <a:xfrm flipV="1">
            <a:off x="2436825" y="6528629"/>
            <a:ext cx="8419861" cy="5772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9B2693F-2AFC-455A-902B-87ADA9E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7429" y="6163504"/>
            <a:ext cx="2743200" cy="365125"/>
          </a:xfrm>
        </p:spPr>
        <p:txBody>
          <a:bodyPr/>
          <a:lstStyle/>
          <a:p>
            <a:r>
              <a:rPr lang="en-US" sz="1400" i="1" dirty="0">
                <a:solidFill>
                  <a:schemeClr val="bg1"/>
                </a:solidFill>
                <a:latin typeface="Poor Richard" panose="02080502050505020702" pitchFamily="18" charset="0"/>
              </a:rPr>
              <a:t>Created By Apurva Ramteke</a:t>
            </a:r>
          </a:p>
        </p:txBody>
      </p:sp>
    </p:spTree>
    <p:extLst>
      <p:ext uri="{BB962C8B-B14F-4D97-AF65-F5344CB8AC3E}">
        <p14:creationId xmlns:p14="http://schemas.microsoft.com/office/powerpoint/2010/main" val="113853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E8A5BE-9BD5-448C-BD61-DE132C0BFA9F}"/>
              </a:ext>
            </a:extLst>
          </p:cNvPr>
          <p:cNvSpPr/>
          <p:nvPr/>
        </p:nvSpPr>
        <p:spPr>
          <a:xfrm>
            <a:off x="11112000" y="5988629"/>
            <a:ext cx="1080000" cy="54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1-17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C3A48F-AE1B-4CBD-94FE-A4303B341E0D}"/>
              </a:ext>
            </a:extLst>
          </p:cNvPr>
          <p:cNvCxnSpPr>
            <a:cxnSpLocks/>
          </p:cNvCxnSpPr>
          <p:nvPr/>
        </p:nvCxnSpPr>
        <p:spPr>
          <a:xfrm flipV="1">
            <a:off x="2436825" y="6528629"/>
            <a:ext cx="8419861" cy="5772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9B2693F-2AFC-455A-902B-87ADA9E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572" y="6163504"/>
            <a:ext cx="2743200" cy="365125"/>
          </a:xfrm>
        </p:spPr>
        <p:txBody>
          <a:bodyPr/>
          <a:lstStyle/>
          <a:p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latin typeface="Poor Richard" panose="02080502050505020702" pitchFamily="18" charset="0"/>
              </a:rPr>
              <a:t>Created By Apurva Ramteke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BF650A-C017-4BC0-A424-F4C36FCCAF11}"/>
              </a:ext>
            </a:extLst>
          </p:cNvPr>
          <p:cNvSpPr txBox="1"/>
          <p:nvPr/>
        </p:nvSpPr>
        <p:spPr>
          <a:xfrm>
            <a:off x="402572" y="435429"/>
            <a:ext cx="44597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or Richard" panose="02080502050505020702" pitchFamily="18" charset="0"/>
              </a:rPr>
              <a:t>Table of </a:t>
            </a:r>
          </a:p>
          <a:p>
            <a:r>
              <a:rPr lang="en-IN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or Richard" panose="02080502050505020702" pitchFamily="18" charset="0"/>
              </a:rPr>
              <a:t>Contents</a:t>
            </a:r>
            <a:endParaRPr lang="en-US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or Richard" panose="02080502050505020702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324976-4DA2-4B75-BEAD-84F578E70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73" y="1940313"/>
            <a:ext cx="4662914" cy="3600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D83D71E-91E3-4E08-86F1-7EF4A2ACC587}"/>
              </a:ext>
            </a:extLst>
          </p:cNvPr>
          <p:cNvSpPr/>
          <p:nvPr/>
        </p:nvSpPr>
        <p:spPr>
          <a:xfrm>
            <a:off x="5268686" y="1940313"/>
            <a:ext cx="6212114" cy="360000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tIns="360000" rIns="360000" bIns="360000" numCol="2" spcCol="36000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Bahnschrift" panose="020B0502040204020203" pitchFamily="34" charset="0"/>
              </a:rPr>
              <a:t>Dataset Overview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Bahnschrift" panose="020B0502040204020203" pitchFamily="34" charset="0"/>
              </a:rPr>
              <a:t>Cleaning The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Analytical Questions</a:t>
            </a:r>
          </a:p>
          <a:p>
            <a:pPr marL="514350" indent="-514350" algn="just">
              <a:buFont typeface="+mj-lt"/>
              <a:buAutoNum type="romanUcPeriod"/>
            </a:pPr>
            <a:r>
              <a:rPr lang="en-US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1</a:t>
            </a:r>
          </a:p>
          <a:p>
            <a:pPr marL="514350" indent="-514350" algn="just">
              <a:buFont typeface="+mj-lt"/>
              <a:buAutoNum type="romanUcPeriod"/>
            </a:pPr>
            <a:r>
              <a:rPr lang="en-US" sz="20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2</a:t>
            </a:r>
          </a:p>
          <a:p>
            <a:pPr marL="514350" indent="-514350" algn="just">
              <a:buFont typeface="+mj-lt"/>
              <a:buAutoNum type="romanUcPeriod"/>
            </a:pPr>
            <a:r>
              <a:rPr lang="en-US" sz="20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3</a:t>
            </a:r>
          </a:p>
          <a:p>
            <a:pPr marL="514350" indent="-514350" algn="just">
              <a:buFont typeface="+mj-lt"/>
              <a:buAutoNum type="romanUcPeriod"/>
            </a:pPr>
            <a:r>
              <a:rPr lang="en-US" sz="20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4</a:t>
            </a:r>
          </a:p>
          <a:p>
            <a:pPr marL="514350" indent="-514350" algn="just">
              <a:buFont typeface="+mj-lt"/>
              <a:buAutoNum type="romanUcPeriod"/>
            </a:pPr>
            <a:r>
              <a:rPr lang="en-US" sz="20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5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100" dirty="0">
                <a:latin typeface="Bahnschrift" panose="020B0502040204020203" pitchFamily="34" charset="0"/>
                <a:ea typeface="Times New Roman" panose="02020603050405020304" pitchFamily="18" charset="0"/>
              </a:rPr>
              <a:t>R</a:t>
            </a:r>
            <a:r>
              <a:rPr lang="en-US" sz="2100" dirty="0">
                <a:effectLst/>
                <a:latin typeface="Bahnschrift" panose="020B0502040204020203" pitchFamily="34" charset="0"/>
                <a:ea typeface="Times New Roman" panose="02020603050405020304" pitchFamily="18" charset="0"/>
              </a:rPr>
              <a:t>esearch questions </a:t>
            </a:r>
          </a:p>
          <a:p>
            <a:pPr marL="514350" indent="-514350" algn="just">
              <a:buFont typeface="+mj-lt"/>
              <a:buAutoNum type="romanUcPeriod"/>
            </a:pPr>
            <a:r>
              <a:rPr lang="en-US" sz="21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Research Question 1</a:t>
            </a:r>
          </a:p>
          <a:p>
            <a:pPr marL="514350" indent="-514350" algn="just">
              <a:buFont typeface="+mj-lt"/>
              <a:buAutoNum type="romanUcPeriod"/>
            </a:pPr>
            <a:r>
              <a:rPr lang="en-US" sz="21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Research Question 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Questions for this assignment</a:t>
            </a:r>
            <a:endParaRPr lang="en-US" sz="2100" dirty="0">
              <a:solidFill>
                <a:schemeClr val="bg1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F5C967-1640-4B23-9A9B-9C921CBD565B}"/>
              </a:ext>
            </a:extLst>
          </p:cNvPr>
          <p:cNvCxnSpPr>
            <a:cxnSpLocks/>
          </p:cNvCxnSpPr>
          <p:nvPr/>
        </p:nvCxnSpPr>
        <p:spPr>
          <a:xfrm>
            <a:off x="8345714" y="2293258"/>
            <a:ext cx="0" cy="298994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758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E8A5BE-9BD5-448C-BD61-DE132C0BFA9F}"/>
              </a:ext>
            </a:extLst>
          </p:cNvPr>
          <p:cNvSpPr/>
          <p:nvPr/>
        </p:nvSpPr>
        <p:spPr>
          <a:xfrm>
            <a:off x="11112000" y="5988629"/>
            <a:ext cx="1080000" cy="54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1-17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C3A48F-AE1B-4CBD-94FE-A4303B341E0D}"/>
              </a:ext>
            </a:extLst>
          </p:cNvPr>
          <p:cNvCxnSpPr>
            <a:cxnSpLocks/>
          </p:cNvCxnSpPr>
          <p:nvPr/>
        </p:nvCxnSpPr>
        <p:spPr>
          <a:xfrm flipV="1">
            <a:off x="2436825" y="6528629"/>
            <a:ext cx="8419861" cy="5772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9B2693F-2AFC-455A-902B-87ADA9E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7429" y="6163504"/>
            <a:ext cx="2743200" cy="365125"/>
          </a:xfrm>
        </p:spPr>
        <p:txBody>
          <a:bodyPr/>
          <a:lstStyle/>
          <a:p>
            <a:r>
              <a:rPr lang="en-US" sz="1400" i="1" dirty="0">
                <a:solidFill>
                  <a:schemeClr val="tx1"/>
                </a:solidFill>
                <a:latin typeface="Poor Richard" panose="02080502050505020702" pitchFamily="18" charset="0"/>
              </a:rPr>
              <a:t>Created By Apurva Ramteke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978DDE-EC0D-4EA2-9A09-7C2BC4F8D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38" y="539662"/>
            <a:ext cx="5086276" cy="50483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5FD071B-6A2D-4FE2-899F-20CE8292AE44}"/>
              </a:ext>
            </a:extLst>
          </p:cNvPr>
          <p:cNvSpPr txBox="1"/>
          <p:nvPr/>
        </p:nvSpPr>
        <p:spPr>
          <a:xfrm>
            <a:off x="6078514" y="539662"/>
            <a:ext cx="5573486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Bahnschrift" panose="020B0502040204020203" pitchFamily="34" charset="0"/>
              </a:rPr>
              <a:t>Dataset Overview</a:t>
            </a:r>
          </a:p>
          <a:p>
            <a:pPr algn="just"/>
            <a:endParaRPr lang="en-IN" sz="2200" b="1" dirty="0">
              <a:latin typeface="Bahnschrift" panose="020B0502040204020203" pitchFamily="34" charset="0"/>
            </a:endParaRPr>
          </a:p>
          <a:p>
            <a:pPr algn="just"/>
            <a:r>
              <a:rPr lang="en-US" sz="2200" dirty="0">
                <a:latin typeface="Bahnschrift" panose="020B0502040204020203" pitchFamily="34" charset="0"/>
              </a:rPr>
              <a:t>This dataset contains information on </a:t>
            </a:r>
            <a:r>
              <a:rPr lang="en-US" sz="2200" b="1" dirty="0">
                <a:latin typeface="Bahnschrift" panose="020B0502040204020203" pitchFamily="34" charset="0"/>
              </a:rPr>
              <a:t>500 bank customers</a:t>
            </a:r>
            <a:r>
              <a:rPr lang="en-US" sz="2200" dirty="0">
                <a:latin typeface="Bahnschrift" panose="020B0502040204020203" pitchFamily="34" charset="0"/>
              </a:rPr>
              <a:t> and focuses on understanding </a:t>
            </a:r>
            <a:r>
              <a:rPr lang="en-US" sz="2200" b="1" dirty="0">
                <a:latin typeface="Bahnschrift" panose="020B0502040204020203" pitchFamily="34" charset="0"/>
              </a:rPr>
              <a:t>customer churn</a:t>
            </a:r>
            <a:r>
              <a:rPr lang="en-US" sz="2200" dirty="0">
                <a:latin typeface="Bahnschrift" panose="020B0502040204020203" pitchFamily="34" charset="0"/>
              </a:rPr>
              <a:t>. It includes customer demographics, credit score, geography, age, tenure, account balance, number of products, credit card ownership, activity status, and estimated salary. The </a:t>
            </a:r>
            <a:r>
              <a:rPr lang="en-US" sz="2200" b="1" dirty="0">
                <a:latin typeface="Bahnschrift" panose="020B0502040204020203" pitchFamily="34" charset="0"/>
              </a:rPr>
              <a:t>Churn</a:t>
            </a:r>
            <a:r>
              <a:rPr lang="en-US" sz="2200" dirty="0">
                <a:latin typeface="Bahnschrift" panose="020B0502040204020203" pitchFamily="34" charset="0"/>
              </a:rPr>
              <a:t> variable indicates whether a customer has left the bank (</a:t>
            </a:r>
            <a:r>
              <a:rPr lang="en-US" sz="2200" b="1" dirty="0">
                <a:latin typeface="Bahnschrift" panose="020B0502040204020203" pitchFamily="34" charset="0"/>
              </a:rPr>
              <a:t>1 = Yes, 0 = No</a:t>
            </a:r>
            <a:r>
              <a:rPr lang="en-US" sz="2200" dirty="0">
                <a:latin typeface="Bahnschrift" panose="020B0502040204020203" pitchFamily="34" charset="0"/>
              </a:rPr>
              <a:t>). The dataset can be used to identify factors associated with customer churn and understand customer behavior.</a:t>
            </a:r>
          </a:p>
          <a:p>
            <a:pPr algn="just"/>
            <a:endParaRPr lang="en-US" sz="2000" b="1" dirty="0">
              <a:latin typeface="Bahnschrift" panose="020B0502040204020203" pitchFamily="34" charset="0"/>
            </a:endParaRPr>
          </a:p>
          <a:p>
            <a:pPr algn="just"/>
            <a:endParaRPr lang="en-US" sz="2000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265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E8A5BE-9BD5-448C-BD61-DE132C0BFA9F}"/>
              </a:ext>
            </a:extLst>
          </p:cNvPr>
          <p:cNvSpPr/>
          <p:nvPr/>
        </p:nvSpPr>
        <p:spPr>
          <a:xfrm>
            <a:off x="11112000" y="5988629"/>
            <a:ext cx="1080000" cy="54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1-17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C3A48F-AE1B-4CBD-94FE-A4303B341E0D}"/>
              </a:ext>
            </a:extLst>
          </p:cNvPr>
          <p:cNvCxnSpPr>
            <a:cxnSpLocks/>
          </p:cNvCxnSpPr>
          <p:nvPr/>
        </p:nvCxnSpPr>
        <p:spPr>
          <a:xfrm flipV="1">
            <a:off x="2436825" y="6528629"/>
            <a:ext cx="8419861" cy="5772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9B2693F-2AFC-455A-902B-87ADA9E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7429" y="6163504"/>
            <a:ext cx="2743200" cy="365125"/>
          </a:xfrm>
        </p:spPr>
        <p:txBody>
          <a:bodyPr/>
          <a:lstStyle/>
          <a:p>
            <a:r>
              <a:rPr lang="en-US" sz="1400" i="1" dirty="0">
                <a:solidFill>
                  <a:schemeClr val="tx1"/>
                </a:solidFill>
                <a:latin typeface="Poor Richard" panose="02080502050505020702" pitchFamily="18" charset="0"/>
              </a:rPr>
              <a:t>Created By Apurva Ramteke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AADF8-B86E-4321-9C60-BE968A8498CC}"/>
              </a:ext>
            </a:extLst>
          </p:cNvPr>
          <p:cNvSpPr txBox="1"/>
          <p:nvPr/>
        </p:nvSpPr>
        <p:spPr>
          <a:xfrm>
            <a:off x="580571" y="323599"/>
            <a:ext cx="11030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Bahnschrift" panose="020B0502040204020203" pitchFamily="34" charset="0"/>
              </a:rPr>
              <a:t>Data Cleaning Process</a:t>
            </a:r>
            <a:endParaRPr lang="en-US" sz="4000" b="1" dirty="0">
              <a:latin typeface="Bahnschrift" panose="020B0502040204020203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4A39CD2-E669-4A35-99FB-F7F6AB47652B}"/>
              </a:ext>
            </a:extLst>
          </p:cNvPr>
          <p:cNvGrpSpPr/>
          <p:nvPr/>
        </p:nvGrpSpPr>
        <p:grpSpPr>
          <a:xfrm>
            <a:off x="346301" y="2636603"/>
            <a:ext cx="11499398" cy="1420442"/>
            <a:chOff x="451051" y="2663434"/>
            <a:chExt cx="11499398" cy="1420442"/>
          </a:xfrm>
          <a:solidFill>
            <a:schemeClr val="tx1"/>
          </a:solidFill>
        </p:grpSpPr>
        <p:sp>
          <p:nvSpPr>
            <p:cNvPr id="21" name="Arrow: Circular 20">
              <a:extLst>
                <a:ext uri="{FF2B5EF4-FFF2-40B4-BE49-F238E27FC236}">
                  <a16:creationId xmlns:a16="http://schemas.microsoft.com/office/drawing/2014/main" id="{C7757834-EA03-4387-88B7-928465D59967}"/>
                </a:ext>
              </a:extLst>
            </p:cNvPr>
            <p:cNvSpPr/>
            <p:nvPr/>
          </p:nvSpPr>
          <p:spPr>
            <a:xfrm rot="7323342">
              <a:off x="7208362" y="2712339"/>
              <a:ext cx="1315932" cy="1322629"/>
            </a:xfrm>
            <a:prstGeom prst="circularArrow">
              <a:avLst>
                <a:gd name="adj1" fmla="val 9256"/>
                <a:gd name="adj2" fmla="val 114871"/>
                <a:gd name="adj3" fmla="val 7075031"/>
                <a:gd name="adj4" fmla="val 10800000"/>
                <a:gd name="adj5" fmla="val 456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Arrow: Circular 26">
              <a:extLst>
                <a:ext uri="{FF2B5EF4-FFF2-40B4-BE49-F238E27FC236}">
                  <a16:creationId xmlns:a16="http://schemas.microsoft.com/office/drawing/2014/main" id="{F3D650A8-F242-46FE-B158-A8BBC0439A30}"/>
                </a:ext>
              </a:extLst>
            </p:cNvPr>
            <p:cNvSpPr/>
            <p:nvPr/>
          </p:nvSpPr>
          <p:spPr>
            <a:xfrm rot="7323342">
              <a:off x="736438" y="2660085"/>
              <a:ext cx="1315932" cy="1322629"/>
            </a:xfrm>
            <a:prstGeom prst="circularArrow">
              <a:avLst>
                <a:gd name="adj1" fmla="val 9256"/>
                <a:gd name="adj2" fmla="val 114871"/>
                <a:gd name="adj3" fmla="val 7075031"/>
                <a:gd name="adj4" fmla="val 10800000"/>
                <a:gd name="adj5" fmla="val 456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Arrow: Circular 27">
              <a:extLst>
                <a:ext uri="{FF2B5EF4-FFF2-40B4-BE49-F238E27FC236}">
                  <a16:creationId xmlns:a16="http://schemas.microsoft.com/office/drawing/2014/main" id="{6E9A1699-BEE4-41F2-A46D-90A3146C1A47}"/>
                </a:ext>
              </a:extLst>
            </p:cNvPr>
            <p:cNvSpPr/>
            <p:nvPr/>
          </p:nvSpPr>
          <p:spPr>
            <a:xfrm rot="14276658" flipV="1">
              <a:off x="5564707" y="2694921"/>
              <a:ext cx="1315932" cy="1322629"/>
            </a:xfrm>
            <a:prstGeom prst="circularArrow">
              <a:avLst>
                <a:gd name="adj1" fmla="val 9256"/>
                <a:gd name="adj2" fmla="val 114871"/>
                <a:gd name="adj3" fmla="val 7075031"/>
                <a:gd name="adj4" fmla="val 10800000"/>
                <a:gd name="adj5" fmla="val 456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Arrow: Circular 28">
              <a:extLst>
                <a:ext uri="{FF2B5EF4-FFF2-40B4-BE49-F238E27FC236}">
                  <a16:creationId xmlns:a16="http://schemas.microsoft.com/office/drawing/2014/main" id="{A04CF90F-72E0-427A-8FB7-66C629D87D14}"/>
                </a:ext>
              </a:extLst>
            </p:cNvPr>
            <p:cNvSpPr/>
            <p:nvPr/>
          </p:nvSpPr>
          <p:spPr>
            <a:xfrm rot="7323342">
              <a:off x="3974002" y="2712341"/>
              <a:ext cx="1315932" cy="1322629"/>
            </a:xfrm>
            <a:prstGeom prst="circularArrow">
              <a:avLst>
                <a:gd name="adj1" fmla="val 9256"/>
                <a:gd name="adj2" fmla="val 114871"/>
                <a:gd name="adj3" fmla="val 7075031"/>
                <a:gd name="adj4" fmla="val 10800000"/>
                <a:gd name="adj5" fmla="val 456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Arrow: Circular 30">
              <a:extLst>
                <a:ext uri="{FF2B5EF4-FFF2-40B4-BE49-F238E27FC236}">
                  <a16:creationId xmlns:a16="http://schemas.microsoft.com/office/drawing/2014/main" id="{3572ECC2-74E4-4E12-B9D5-24F5DBA7B8D4}"/>
                </a:ext>
              </a:extLst>
            </p:cNvPr>
            <p:cNvSpPr/>
            <p:nvPr/>
          </p:nvSpPr>
          <p:spPr>
            <a:xfrm rot="14276658" flipV="1">
              <a:off x="8802271" y="2764595"/>
              <a:ext cx="1315932" cy="1322629"/>
            </a:xfrm>
            <a:prstGeom prst="circularArrow">
              <a:avLst>
                <a:gd name="adj1" fmla="val 9256"/>
                <a:gd name="adj2" fmla="val 114871"/>
                <a:gd name="adj3" fmla="val 7075031"/>
                <a:gd name="adj4" fmla="val 10800000"/>
                <a:gd name="adj5" fmla="val 456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Arrow: Circular 31">
              <a:extLst>
                <a:ext uri="{FF2B5EF4-FFF2-40B4-BE49-F238E27FC236}">
                  <a16:creationId xmlns:a16="http://schemas.microsoft.com/office/drawing/2014/main" id="{591221B2-3D97-4732-B7A9-6CB71AF43110}"/>
                </a:ext>
              </a:extLst>
            </p:cNvPr>
            <p:cNvSpPr/>
            <p:nvPr/>
          </p:nvSpPr>
          <p:spPr>
            <a:xfrm rot="14276658" flipV="1">
              <a:off x="2337055" y="2706569"/>
              <a:ext cx="1315932" cy="1322629"/>
            </a:xfrm>
            <a:prstGeom prst="circularArrow">
              <a:avLst>
                <a:gd name="adj1" fmla="val 9256"/>
                <a:gd name="adj2" fmla="val 114871"/>
                <a:gd name="adj3" fmla="val 7075031"/>
                <a:gd name="adj4" fmla="val 10800000"/>
                <a:gd name="adj5" fmla="val 456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Arrow: Circular 32">
              <a:extLst>
                <a:ext uri="{FF2B5EF4-FFF2-40B4-BE49-F238E27FC236}">
                  <a16:creationId xmlns:a16="http://schemas.microsoft.com/office/drawing/2014/main" id="{B0196E93-0B97-413E-8FF3-ECC11E73A305}"/>
                </a:ext>
              </a:extLst>
            </p:cNvPr>
            <p:cNvSpPr/>
            <p:nvPr/>
          </p:nvSpPr>
          <p:spPr>
            <a:xfrm rot="7323342">
              <a:off x="10365676" y="2764594"/>
              <a:ext cx="1315932" cy="1322629"/>
            </a:xfrm>
            <a:prstGeom prst="circularArrow">
              <a:avLst>
                <a:gd name="adj1" fmla="val 9256"/>
                <a:gd name="adj2" fmla="val 114871"/>
                <a:gd name="adj3" fmla="val 7075031"/>
                <a:gd name="adj4" fmla="val 10800000"/>
                <a:gd name="adj5" fmla="val 456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Minus Sign 7">
              <a:extLst>
                <a:ext uri="{FF2B5EF4-FFF2-40B4-BE49-F238E27FC236}">
                  <a16:creationId xmlns:a16="http://schemas.microsoft.com/office/drawing/2014/main" id="{6CECADF2-7113-4ADD-94E0-8E276E1C1972}"/>
                </a:ext>
              </a:extLst>
            </p:cNvPr>
            <p:cNvSpPr/>
            <p:nvPr/>
          </p:nvSpPr>
          <p:spPr>
            <a:xfrm>
              <a:off x="1958776" y="3115297"/>
              <a:ext cx="434005" cy="621217"/>
            </a:xfrm>
            <a:prstGeom prst="mathMinus">
              <a:avLst/>
            </a:prstGeom>
            <a:grpFill/>
            <a:ln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Minus Sign 34">
              <a:extLst>
                <a:ext uri="{FF2B5EF4-FFF2-40B4-BE49-F238E27FC236}">
                  <a16:creationId xmlns:a16="http://schemas.microsoft.com/office/drawing/2014/main" id="{1B79F8BB-E9B5-4FBB-AD0F-FFB3D7C7D4E1}"/>
                </a:ext>
              </a:extLst>
            </p:cNvPr>
            <p:cNvSpPr/>
            <p:nvPr/>
          </p:nvSpPr>
          <p:spPr>
            <a:xfrm>
              <a:off x="3588751" y="3150135"/>
              <a:ext cx="487335" cy="551543"/>
            </a:xfrm>
            <a:prstGeom prst="mathMinus">
              <a:avLst/>
            </a:prstGeom>
            <a:grpFill/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lowchart: Terminator 36">
              <a:extLst>
                <a:ext uri="{FF2B5EF4-FFF2-40B4-BE49-F238E27FC236}">
                  <a16:creationId xmlns:a16="http://schemas.microsoft.com/office/drawing/2014/main" id="{F0744147-9DBA-4DF8-8ADF-2E21A2521DC6}"/>
                </a:ext>
              </a:extLst>
            </p:cNvPr>
            <p:cNvSpPr/>
            <p:nvPr/>
          </p:nvSpPr>
          <p:spPr>
            <a:xfrm>
              <a:off x="451051" y="3307453"/>
              <a:ext cx="287022" cy="148772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lowchart: Terminator 37">
              <a:extLst>
                <a:ext uri="{FF2B5EF4-FFF2-40B4-BE49-F238E27FC236}">
                  <a16:creationId xmlns:a16="http://schemas.microsoft.com/office/drawing/2014/main" id="{BA3E1630-2AC1-4EBF-BC05-F4EF171A9B94}"/>
                </a:ext>
              </a:extLst>
            </p:cNvPr>
            <p:cNvSpPr/>
            <p:nvPr/>
          </p:nvSpPr>
          <p:spPr>
            <a:xfrm>
              <a:off x="11663427" y="3290566"/>
              <a:ext cx="287022" cy="148772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Minus Sign 38">
              <a:extLst>
                <a:ext uri="{FF2B5EF4-FFF2-40B4-BE49-F238E27FC236}">
                  <a16:creationId xmlns:a16="http://schemas.microsoft.com/office/drawing/2014/main" id="{37AA29DE-0EE3-4488-9050-96E9E838855F}"/>
                </a:ext>
              </a:extLst>
            </p:cNvPr>
            <p:cNvSpPr/>
            <p:nvPr/>
          </p:nvSpPr>
          <p:spPr>
            <a:xfrm>
              <a:off x="5234208" y="3150135"/>
              <a:ext cx="441046" cy="551543"/>
            </a:xfrm>
            <a:prstGeom prst="mathMinus">
              <a:avLst/>
            </a:prstGeom>
            <a:grpFill/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inus Sign 41">
              <a:extLst>
                <a:ext uri="{FF2B5EF4-FFF2-40B4-BE49-F238E27FC236}">
                  <a16:creationId xmlns:a16="http://schemas.microsoft.com/office/drawing/2014/main" id="{1583D8FA-ECD7-43C3-BC61-CF1917DC47F4}"/>
                </a:ext>
              </a:extLst>
            </p:cNvPr>
            <p:cNvSpPr/>
            <p:nvPr/>
          </p:nvSpPr>
          <p:spPr>
            <a:xfrm>
              <a:off x="6776421" y="3115299"/>
              <a:ext cx="542487" cy="621215"/>
            </a:xfrm>
            <a:prstGeom prst="mathMinus">
              <a:avLst/>
            </a:prstGeom>
            <a:grpFill/>
            <a:ln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Minus Sign 42">
              <a:extLst>
                <a:ext uri="{FF2B5EF4-FFF2-40B4-BE49-F238E27FC236}">
                  <a16:creationId xmlns:a16="http://schemas.microsoft.com/office/drawing/2014/main" id="{7B3780DC-39A8-470A-8529-DC1C70EDC26E}"/>
                </a:ext>
              </a:extLst>
            </p:cNvPr>
            <p:cNvSpPr/>
            <p:nvPr/>
          </p:nvSpPr>
          <p:spPr>
            <a:xfrm>
              <a:off x="8445184" y="3115299"/>
              <a:ext cx="434005" cy="621217"/>
            </a:xfrm>
            <a:prstGeom prst="mathMinus">
              <a:avLst/>
            </a:prstGeom>
            <a:grpFill/>
            <a:ln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Minus Sign 43">
              <a:extLst>
                <a:ext uri="{FF2B5EF4-FFF2-40B4-BE49-F238E27FC236}">
                  <a16:creationId xmlns:a16="http://schemas.microsoft.com/office/drawing/2014/main" id="{4CDF795C-4F70-4E5F-8AC4-026A02828619}"/>
                </a:ext>
              </a:extLst>
            </p:cNvPr>
            <p:cNvSpPr/>
            <p:nvPr/>
          </p:nvSpPr>
          <p:spPr>
            <a:xfrm>
              <a:off x="10037310" y="3057274"/>
              <a:ext cx="434005" cy="621217"/>
            </a:xfrm>
            <a:prstGeom prst="mathMinus">
              <a:avLst/>
            </a:prstGeom>
            <a:grpFill/>
            <a:ln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C136BBAA-7B82-471B-BF20-E94D22510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489" y="3046209"/>
            <a:ext cx="580698" cy="58069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A579BFF-1C10-4D09-A059-D3F630A3B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000" y="3141577"/>
            <a:ext cx="426861" cy="426861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B82E5753-E39D-4CC6-9D6B-896128BD5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4249" y="3111238"/>
            <a:ext cx="457200" cy="457200"/>
          </a:xfrm>
          <a:prstGeom prst="rect">
            <a:avLst/>
          </a:prstGeom>
        </p:spPr>
      </p:pic>
      <p:pic>
        <p:nvPicPr>
          <p:cNvPr id="2052" name="Picture 2051">
            <a:extLst>
              <a:ext uri="{FF2B5EF4-FFF2-40B4-BE49-F238E27FC236}">
                <a16:creationId xmlns:a16="http://schemas.microsoft.com/office/drawing/2014/main" id="{7316CCAD-3343-4030-88B5-7E13B2D35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3561" y="3086738"/>
            <a:ext cx="457200" cy="457200"/>
          </a:xfrm>
          <a:prstGeom prst="rect">
            <a:avLst/>
          </a:prstGeom>
        </p:spPr>
      </p:pic>
      <p:pic>
        <p:nvPicPr>
          <p:cNvPr id="2054" name="Picture 2053">
            <a:extLst>
              <a:ext uri="{FF2B5EF4-FFF2-40B4-BE49-F238E27FC236}">
                <a16:creationId xmlns:a16="http://schemas.microsoft.com/office/drawing/2014/main" id="{D0477451-097A-4829-8E77-BBED6B106C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3421" y="3183907"/>
            <a:ext cx="457200" cy="457200"/>
          </a:xfrm>
          <a:prstGeom prst="rect">
            <a:avLst/>
          </a:prstGeom>
        </p:spPr>
      </p:pic>
      <p:pic>
        <p:nvPicPr>
          <p:cNvPr id="2056" name="Picture 2055">
            <a:extLst>
              <a:ext uri="{FF2B5EF4-FFF2-40B4-BE49-F238E27FC236}">
                <a16:creationId xmlns:a16="http://schemas.microsoft.com/office/drawing/2014/main" id="{C91D3CB3-28C9-426F-B04E-6EC8B750F4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9941" y="3113002"/>
            <a:ext cx="457200" cy="457200"/>
          </a:xfrm>
          <a:prstGeom prst="rect">
            <a:avLst/>
          </a:prstGeom>
        </p:spPr>
      </p:pic>
      <p:pic>
        <p:nvPicPr>
          <p:cNvPr id="2058" name="Picture 2057">
            <a:extLst>
              <a:ext uri="{FF2B5EF4-FFF2-40B4-BE49-F238E27FC236}">
                <a16:creationId xmlns:a16="http://schemas.microsoft.com/office/drawing/2014/main" id="{95903624-7477-49E3-AD58-D27EF6D0CA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940" y="3036179"/>
            <a:ext cx="516778" cy="516778"/>
          </a:xfrm>
          <a:prstGeom prst="rect">
            <a:avLst/>
          </a:prstGeom>
        </p:spPr>
      </p:pic>
      <p:sp>
        <p:nvSpPr>
          <p:cNvPr id="2059" name="TextBox 2058">
            <a:extLst>
              <a:ext uri="{FF2B5EF4-FFF2-40B4-BE49-F238E27FC236}">
                <a16:creationId xmlns:a16="http://schemas.microsoft.com/office/drawing/2014/main" id="{4E8F47ED-22DC-42AC-8201-C418AB310F41}"/>
              </a:ext>
            </a:extLst>
          </p:cNvPr>
          <p:cNvSpPr txBox="1"/>
          <p:nvPr/>
        </p:nvSpPr>
        <p:spPr>
          <a:xfrm>
            <a:off x="198539" y="3962965"/>
            <a:ext cx="21209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</a:p>
          <a:p>
            <a:pPr algn="ctr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Inspection</a:t>
            </a:r>
          </a:p>
          <a:p>
            <a:pPr algn="ctr"/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Checked the dataset for missing and inconsistent values</a:t>
            </a:r>
            <a:r>
              <a:rPr lang="en-US" sz="1600" dirty="0"/>
              <a:t>.</a:t>
            </a:r>
            <a:endParaRPr lang="en-US" sz="1600" b="1" dirty="0"/>
          </a:p>
        </p:txBody>
      </p:sp>
      <p:sp>
        <p:nvSpPr>
          <p:cNvPr id="2060" name="TextBox 2059">
            <a:extLst>
              <a:ext uri="{FF2B5EF4-FFF2-40B4-BE49-F238E27FC236}">
                <a16:creationId xmlns:a16="http://schemas.microsoft.com/office/drawing/2014/main" id="{4E0826A5-E8D0-401A-AA1F-79DCB92E792B}"/>
              </a:ext>
            </a:extLst>
          </p:cNvPr>
          <p:cNvSpPr txBox="1"/>
          <p:nvPr/>
        </p:nvSpPr>
        <p:spPr>
          <a:xfrm>
            <a:off x="1487645" y="1132394"/>
            <a:ext cx="265816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Missing Value </a:t>
            </a:r>
          </a:p>
          <a:p>
            <a:pPr algn="ctr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Identification</a:t>
            </a:r>
          </a:p>
          <a:p>
            <a:pPr algn="ctr"/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Identified missing values in the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EstimatedSalary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column.</a:t>
            </a:r>
          </a:p>
        </p:txBody>
      </p:sp>
      <p:sp>
        <p:nvSpPr>
          <p:cNvPr id="2061" name="TextBox 2060">
            <a:extLst>
              <a:ext uri="{FF2B5EF4-FFF2-40B4-BE49-F238E27FC236}">
                <a16:creationId xmlns:a16="http://schemas.microsoft.com/office/drawing/2014/main" id="{E6A18C6F-426F-4DC2-A24F-E7FA689DD569}"/>
              </a:ext>
            </a:extLst>
          </p:cNvPr>
          <p:cNvSpPr txBox="1"/>
          <p:nvPr/>
        </p:nvSpPr>
        <p:spPr>
          <a:xfrm>
            <a:off x="3214346" y="4028427"/>
            <a:ext cx="26581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Inconsistency Identification</a:t>
            </a:r>
          </a:p>
          <a:p>
            <a:pPr algn="ctr"/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Identified inconsistent values in the Balance column.</a:t>
            </a:r>
          </a:p>
        </p:txBody>
      </p:sp>
      <p:sp>
        <p:nvSpPr>
          <p:cNvPr id="2062" name="TextBox 2061">
            <a:extLst>
              <a:ext uri="{FF2B5EF4-FFF2-40B4-BE49-F238E27FC236}">
                <a16:creationId xmlns:a16="http://schemas.microsoft.com/office/drawing/2014/main" id="{0EF769CA-E054-400C-B311-593D73B0C447}"/>
              </a:ext>
            </a:extLst>
          </p:cNvPr>
          <p:cNvSpPr txBox="1"/>
          <p:nvPr/>
        </p:nvSpPr>
        <p:spPr>
          <a:xfrm>
            <a:off x="4832653" y="1631603"/>
            <a:ext cx="26581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Average Calculation </a:t>
            </a:r>
          </a:p>
          <a:p>
            <a:pPr algn="ctr"/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Calculated the average value for each affected variable.</a:t>
            </a:r>
          </a:p>
        </p:txBody>
      </p:sp>
      <p:sp>
        <p:nvSpPr>
          <p:cNvPr id="2063" name="TextBox 2062">
            <a:extLst>
              <a:ext uri="{FF2B5EF4-FFF2-40B4-BE49-F238E27FC236}">
                <a16:creationId xmlns:a16="http://schemas.microsoft.com/office/drawing/2014/main" id="{265CE072-BEFC-4491-A9F0-95A72EA6F0DC}"/>
              </a:ext>
            </a:extLst>
          </p:cNvPr>
          <p:cNvSpPr txBox="1"/>
          <p:nvPr/>
        </p:nvSpPr>
        <p:spPr>
          <a:xfrm>
            <a:off x="6560307" y="4054447"/>
            <a:ext cx="241141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Data Replacement</a:t>
            </a:r>
          </a:p>
          <a:p>
            <a:pPr algn="ctr"/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Replaced missing/inconsistent values with the respective average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64" name="TextBox 2063">
            <a:extLst>
              <a:ext uri="{FF2B5EF4-FFF2-40B4-BE49-F238E27FC236}">
                <a16:creationId xmlns:a16="http://schemas.microsoft.com/office/drawing/2014/main" id="{58C9E6F4-FCDC-4915-82CF-1001169F62DC}"/>
              </a:ext>
            </a:extLst>
          </p:cNvPr>
          <p:cNvSpPr txBox="1"/>
          <p:nvPr/>
        </p:nvSpPr>
        <p:spPr>
          <a:xfrm>
            <a:off x="8073477" y="1456487"/>
            <a:ext cx="297792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Data Validation</a:t>
            </a:r>
          </a:p>
          <a:p>
            <a:pPr algn="ctr"/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Verified the cleaned dataset to ensure no missing or inconsistent values remained.</a:t>
            </a:r>
          </a:p>
        </p:txBody>
      </p:sp>
      <p:sp>
        <p:nvSpPr>
          <p:cNvPr id="2065" name="TextBox 2064">
            <a:extLst>
              <a:ext uri="{FF2B5EF4-FFF2-40B4-BE49-F238E27FC236}">
                <a16:creationId xmlns:a16="http://schemas.microsoft.com/office/drawing/2014/main" id="{629EA3E6-6E35-4490-9C64-156CA981B82D}"/>
              </a:ext>
            </a:extLst>
          </p:cNvPr>
          <p:cNvSpPr txBox="1"/>
          <p:nvPr/>
        </p:nvSpPr>
        <p:spPr>
          <a:xfrm>
            <a:off x="9701597" y="4140683"/>
            <a:ext cx="23101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Data Analysis</a:t>
            </a:r>
          </a:p>
          <a:p>
            <a:pPr algn="ctr"/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Used the cleaned data for Pivot Table and Data Analysis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ToolPak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analysis.</a:t>
            </a:r>
          </a:p>
        </p:txBody>
      </p:sp>
    </p:spTree>
    <p:extLst>
      <p:ext uri="{BB962C8B-B14F-4D97-AF65-F5344CB8AC3E}">
        <p14:creationId xmlns:p14="http://schemas.microsoft.com/office/powerpoint/2010/main" val="4037630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C3A48F-AE1B-4CBD-94FE-A4303B341E0D}"/>
              </a:ext>
            </a:extLst>
          </p:cNvPr>
          <p:cNvCxnSpPr>
            <a:cxnSpLocks/>
          </p:cNvCxnSpPr>
          <p:nvPr/>
        </p:nvCxnSpPr>
        <p:spPr>
          <a:xfrm flipV="1">
            <a:off x="2436825" y="6528629"/>
            <a:ext cx="8419861" cy="5772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9B2693F-2AFC-455A-902B-87ADA9E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7429" y="6163504"/>
            <a:ext cx="2743200" cy="365125"/>
          </a:xfrm>
        </p:spPr>
        <p:txBody>
          <a:bodyPr/>
          <a:lstStyle/>
          <a:p>
            <a:r>
              <a:rPr lang="en-US" sz="1400" i="1" dirty="0">
                <a:solidFill>
                  <a:schemeClr val="tx1"/>
                </a:solidFill>
                <a:latin typeface="Poor Richard" panose="02080502050505020702" pitchFamily="18" charset="0"/>
              </a:rPr>
              <a:t>Created By Apurva Ramteke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7D0FAA-15DD-427F-BD85-54AACA408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323606"/>
              </p:ext>
            </p:extLst>
          </p:nvPr>
        </p:nvGraphicFramePr>
        <p:xfrm>
          <a:off x="718455" y="3186810"/>
          <a:ext cx="1080588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177">
                  <a:extLst>
                    <a:ext uri="{9D8B030D-6E8A-4147-A177-3AD203B41FA5}">
                      <a16:colId xmlns:a16="http://schemas.microsoft.com/office/drawing/2014/main" val="23455910"/>
                    </a:ext>
                  </a:extLst>
                </a:gridCol>
                <a:gridCol w="2161177">
                  <a:extLst>
                    <a:ext uri="{9D8B030D-6E8A-4147-A177-3AD203B41FA5}">
                      <a16:colId xmlns:a16="http://schemas.microsoft.com/office/drawing/2014/main" val="1330663814"/>
                    </a:ext>
                  </a:extLst>
                </a:gridCol>
                <a:gridCol w="2161177">
                  <a:extLst>
                    <a:ext uri="{9D8B030D-6E8A-4147-A177-3AD203B41FA5}">
                      <a16:colId xmlns:a16="http://schemas.microsoft.com/office/drawing/2014/main" val="2035245642"/>
                    </a:ext>
                  </a:extLst>
                </a:gridCol>
                <a:gridCol w="2161177">
                  <a:extLst>
                    <a:ext uri="{9D8B030D-6E8A-4147-A177-3AD203B41FA5}">
                      <a16:colId xmlns:a16="http://schemas.microsoft.com/office/drawing/2014/main" val="2603026034"/>
                    </a:ext>
                  </a:extLst>
                </a:gridCol>
                <a:gridCol w="2161177">
                  <a:extLst>
                    <a:ext uri="{9D8B030D-6E8A-4147-A177-3AD203B41FA5}">
                      <a16:colId xmlns:a16="http://schemas.microsoft.com/office/drawing/2014/main" val="3318647723"/>
                    </a:ext>
                  </a:extLst>
                </a:gridCol>
              </a:tblGrid>
              <a:tr h="2480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Cambria" panose="02040503050406030204" pitchFamily="18" charset="0"/>
                          <a:cs typeface="+mn-cs"/>
                        </a:rPr>
                        <a:t>What is the average credit score for each geography?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Cambria" panose="02040503050406030204" pitchFamily="18" charset="0"/>
                          <a:cs typeface="+mn-cs"/>
                        </a:rPr>
                        <a:t>How does the average account balance vary between genders within each country?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Cambria" panose="02040503050406030204" pitchFamily="18" charset="0"/>
                          <a:cs typeface="+mn-cs"/>
                        </a:rPr>
                        <a:t>What is the distribution of active members versus non-active members according to having credit card?</a:t>
                      </a:r>
                    </a:p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lvl="0"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Cambria" panose="02040503050406030204" pitchFamily="18" charset="0"/>
                          <a:cs typeface="+mn-cs"/>
                        </a:rPr>
                        <a:t>What is the customer churn rate per number of products used?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Cambria" panose="02040503050406030204" pitchFamily="18" charset="0"/>
                          <a:cs typeface="+mn-cs"/>
                        </a:rPr>
                        <a:t>What is the average credit score for customers who have exited compared to those who have stayed, across different tenure?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875189"/>
                  </a:ext>
                </a:extLst>
              </a:tr>
            </a:tbl>
          </a:graphicData>
        </a:graphic>
      </p:graphicFrame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DBA06BE-B16C-4375-997F-D84DA49BE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02502"/>
              </p:ext>
            </p:extLst>
          </p:nvPr>
        </p:nvGraphicFramePr>
        <p:xfrm>
          <a:off x="718455" y="1367696"/>
          <a:ext cx="10805885" cy="2001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177">
                  <a:extLst>
                    <a:ext uri="{9D8B030D-6E8A-4147-A177-3AD203B41FA5}">
                      <a16:colId xmlns:a16="http://schemas.microsoft.com/office/drawing/2014/main" val="1449021526"/>
                    </a:ext>
                  </a:extLst>
                </a:gridCol>
                <a:gridCol w="2161177">
                  <a:extLst>
                    <a:ext uri="{9D8B030D-6E8A-4147-A177-3AD203B41FA5}">
                      <a16:colId xmlns:a16="http://schemas.microsoft.com/office/drawing/2014/main" val="1432222157"/>
                    </a:ext>
                  </a:extLst>
                </a:gridCol>
                <a:gridCol w="2161177">
                  <a:extLst>
                    <a:ext uri="{9D8B030D-6E8A-4147-A177-3AD203B41FA5}">
                      <a16:colId xmlns:a16="http://schemas.microsoft.com/office/drawing/2014/main" val="3742989910"/>
                    </a:ext>
                  </a:extLst>
                </a:gridCol>
                <a:gridCol w="2161177">
                  <a:extLst>
                    <a:ext uri="{9D8B030D-6E8A-4147-A177-3AD203B41FA5}">
                      <a16:colId xmlns:a16="http://schemas.microsoft.com/office/drawing/2014/main" val="2615641144"/>
                    </a:ext>
                  </a:extLst>
                </a:gridCol>
                <a:gridCol w="2161177">
                  <a:extLst>
                    <a:ext uri="{9D8B030D-6E8A-4147-A177-3AD203B41FA5}">
                      <a16:colId xmlns:a16="http://schemas.microsoft.com/office/drawing/2014/main" val="267670641"/>
                    </a:ext>
                  </a:extLst>
                </a:gridCol>
              </a:tblGrid>
              <a:tr h="1120218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  <a:p>
                      <a:pPr algn="ctr"/>
                      <a:r>
                        <a:rPr lang="en-IN" sz="2000" b="1" dirty="0">
                          <a:latin typeface="Bahnschrift" panose="020B0502040204020203" pitchFamily="34" charset="0"/>
                        </a:rPr>
                        <a:t>Question</a:t>
                      </a:r>
                      <a:endParaRPr lang="en-US" sz="2000" b="1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  <a:p>
                      <a:pPr algn="ctr"/>
                      <a:r>
                        <a:rPr lang="en-IN" sz="2000" b="1" dirty="0">
                          <a:latin typeface="Bahnschrift" panose="020B0502040204020203" pitchFamily="34" charset="0"/>
                        </a:rPr>
                        <a:t>Question</a:t>
                      </a:r>
                      <a:endParaRPr lang="en-US" sz="2000" b="1" dirty="0">
                        <a:latin typeface="Bahnschrift" panose="020B0502040204020203" pitchFamily="34" charset="0"/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  <a:p>
                      <a:pPr algn="ctr"/>
                      <a:r>
                        <a:rPr lang="en-IN" sz="2000" b="1" dirty="0">
                          <a:latin typeface="Bahnschrift" panose="020B0502040204020203" pitchFamily="34" charset="0"/>
                        </a:rPr>
                        <a:t>Question</a:t>
                      </a:r>
                      <a:endParaRPr lang="en-US" sz="2000" b="1" dirty="0">
                        <a:latin typeface="Bahnschrift" panose="020B0502040204020203" pitchFamily="34" charset="0"/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  <a:p>
                      <a:pPr algn="ctr"/>
                      <a:r>
                        <a:rPr lang="en-IN" sz="2000" b="1" dirty="0">
                          <a:latin typeface="Bahnschrift" panose="020B0502040204020203" pitchFamily="34" charset="0"/>
                        </a:rPr>
                        <a:t>Question</a:t>
                      </a:r>
                      <a:endParaRPr lang="en-US" sz="2000" b="1" dirty="0">
                        <a:latin typeface="Bahnschrift" panose="020B0502040204020203" pitchFamily="34" charset="0"/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  <a:p>
                      <a:pPr algn="ctr"/>
                      <a:r>
                        <a:rPr lang="en-IN" sz="2000" b="1" dirty="0">
                          <a:latin typeface="Bahnschrift" panose="020B0502040204020203" pitchFamily="34" charset="0"/>
                        </a:rPr>
                        <a:t>Question</a:t>
                      </a:r>
                      <a:endParaRPr lang="en-US" sz="2000" b="1" dirty="0">
                        <a:latin typeface="Bahnschrift" panose="020B0502040204020203" pitchFamily="34" charset="0"/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296673"/>
                  </a:ext>
                </a:extLst>
              </a:tr>
              <a:tr h="8808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896684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FE8A5BE-9BD5-448C-BD61-DE132C0BFA9F}"/>
              </a:ext>
            </a:extLst>
          </p:cNvPr>
          <p:cNvSpPr/>
          <p:nvPr/>
        </p:nvSpPr>
        <p:spPr>
          <a:xfrm>
            <a:off x="11112000" y="5988629"/>
            <a:ext cx="1080000" cy="54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1-17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F03114-BE97-44AD-ADBD-2D47E580AD63}"/>
              </a:ext>
            </a:extLst>
          </p:cNvPr>
          <p:cNvSpPr/>
          <p:nvPr/>
        </p:nvSpPr>
        <p:spPr>
          <a:xfrm>
            <a:off x="1135543" y="2199121"/>
            <a:ext cx="1215771" cy="1103085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4512143-41BA-4178-818E-BC469E63389B}"/>
              </a:ext>
            </a:extLst>
          </p:cNvPr>
          <p:cNvSpPr/>
          <p:nvPr/>
        </p:nvSpPr>
        <p:spPr>
          <a:xfrm>
            <a:off x="3319943" y="2237529"/>
            <a:ext cx="1215771" cy="1103085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91F5C0B-FA46-4F42-B9E8-DB400A54BEF2}"/>
              </a:ext>
            </a:extLst>
          </p:cNvPr>
          <p:cNvSpPr/>
          <p:nvPr/>
        </p:nvSpPr>
        <p:spPr>
          <a:xfrm>
            <a:off x="5504343" y="2237529"/>
            <a:ext cx="1215771" cy="1103085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4EF39F4-8EA6-434E-B3B5-C7CCE3E4DDB7}"/>
              </a:ext>
            </a:extLst>
          </p:cNvPr>
          <p:cNvSpPr/>
          <p:nvPr/>
        </p:nvSpPr>
        <p:spPr>
          <a:xfrm>
            <a:off x="7688743" y="2225344"/>
            <a:ext cx="1215771" cy="1103085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78CFEAB-EEB6-4741-9553-7A977AC08CCE}"/>
              </a:ext>
            </a:extLst>
          </p:cNvPr>
          <p:cNvSpPr/>
          <p:nvPr/>
        </p:nvSpPr>
        <p:spPr>
          <a:xfrm>
            <a:off x="9867997" y="2265720"/>
            <a:ext cx="1215771" cy="1103085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5EF17D-6641-45A2-8F45-1378405D1295}"/>
              </a:ext>
            </a:extLst>
          </p:cNvPr>
          <p:cNvCxnSpPr>
            <a:cxnSpLocks/>
          </p:cNvCxnSpPr>
          <p:nvPr/>
        </p:nvCxnSpPr>
        <p:spPr>
          <a:xfrm>
            <a:off x="2884515" y="1511908"/>
            <a:ext cx="0" cy="8563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AEEE8A-4D35-4AAC-ADA8-D84EA6F48680}"/>
              </a:ext>
            </a:extLst>
          </p:cNvPr>
          <p:cNvCxnSpPr/>
          <p:nvPr/>
        </p:nvCxnSpPr>
        <p:spPr>
          <a:xfrm>
            <a:off x="5018116" y="1511908"/>
            <a:ext cx="0" cy="8563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088099-87C0-4ABB-8FBB-8D047DF114E6}"/>
              </a:ext>
            </a:extLst>
          </p:cNvPr>
          <p:cNvCxnSpPr/>
          <p:nvPr/>
        </p:nvCxnSpPr>
        <p:spPr>
          <a:xfrm>
            <a:off x="7195259" y="1511907"/>
            <a:ext cx="0" cy="8563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523728-EFF6-421C-8571-4FD91A91B9EF}"/>
              </a:ext>
            </a:extLst>
          </p:cNvPr>
          <p:cNvCxnSpPr/>
          <p:nvPr/>
        </p:nvCxnSpPr>
        <p:spPr>
          <a:xfrm>
            <a:off x="9358342" y="1511906"/>
            <a:ext cx="0" cy="8563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4D2C4CDD-E386-417C-BD89-F4FF24A56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539" y="2375754"/>
            <a:ext cx="671432" cy="67143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0346CF1-7BC6-4AAE-B930-EFDAAF551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397" y="2425235"/>
            <a:ext cx="648000" cy="64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C7F64C0-2D5A-460B-9684-9A9E7549C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428" y="2397058"/>
            <a:ext cx="648000" cy="648000"/>
          </a:xfrm>
          <a:prstGeom prst="rect">
            <a:avLst/>
          </a:prstGeom>
        </p:spPr>
      </p:pic>
      <p:sp>
        <p:nvSpPr>
          <p:cNvPr id="55" name="AutoShape 4" descr=", AI generated">
            <a:extLst>
              <a:ext uri="{FF2B5EF4-FFF2-40B4-BE49-F238E27FC236}">
                <a16:creationId xmlns:a16="http://schemas.microsoft.com/office/drawing/2014/main" id="{69FE6053-DFA7-4873-9671-83A41DD85F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7F2E2A9-DB79-46C4-B7D9-D27A3E7597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28" y="2417607"/>
            <a:ext cx="648000" cy="6480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AA4127F1-77BF-48A8-8D6D-C418C27E07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8686" y="2467940"/>
            <a:ext cx="648000" cy="6480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3FA86B73-AB7E-4454-A7AB-D40E7364F1C9}"/>
              </a:ext>
            </a:extLst>
          </p:cNvPr>
          <p:cNvSpPr txBox="1"/>
          <p:nvPr/>
        </p:nvSpPr>
        <p:spPr>
          <a:xfrm>
            <a:off x="460631" y="146508"/>
            <a:ext cx="65024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1D2125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Analytical Questions</a:t>
            </a:r>
            <a:endParaRPr lang="en-US" sz="4000" b="1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838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E8A5BE-9BD5-448C-BD61-DE132C0BFA9F}"/>
              </a:ext>
            </a:extLst>
          </p:cNvPr>
          <p:cNvSpPr/>
          <p:nvPr/>
        </p:nvSpPr>
        <p:spPr>
          <a:xfrm>
            <a:off x="11112000" y="5988629"/>
            <a:ext cx="1080000" cy="54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1-17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C3A48F-AE1B-4CBD-94FE-A4303B341E0D}"/>
              </a:ext>
            </a:extLst>
          </p:cNvPr>
          <p:cNvCxnSpPr>
            <a:cxnSpLocks/>
          </p:cNvCxnSpPr>
          <p:nvPr/>
        </p:nvCxnSpPr>
        <p:spPr>
          <a:xfrm flipV="1">
            <a:off x="2436825" y="6528629"/>
            <a:ext cx="8419861" cy="5772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9B2693F-2AFC-455A-902B-87ADA9E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7429" y="6163504"/>
            <a:ext cx="2743200" cy="365125"/>
          </a:xfrm>
        </p:spPr>
        <p:txBody>
          <a:bodyPr/>
          <a:lstStyle/>
          <a:p>
            <a:r>
              <a:rPr lang="en-US" sz="1400" i="1" dirty="0">
                <a:solidFill>
                  <a:schemeClr val="tx1"/>
                </a:solidFill>
                <a:latin typeface="Poor Richard" panose="02080502050505020702" pitchFamily="18" charset="0"/>
              </a:rPr>
              <a:t>Created By Apurva Ramteke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7B154-BCC8-42AE-A59F-AEE0323FB779}"/>
              </a:ext>
            </a:extLst>
          </p:cNvPr>
          <p:cNvSpPr txBox="1"/>
          <p:nvPr/>
        </p:nvSpPr>
        <p:spPr>
          <a:xfrm>
            <a:off x="428625" y="329371"/>
            <a:ext cx="25720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Bahnschrift" panose="020B0502040204020203" pitchFamily="34" charset="0"/>
              </a:rPr>
              <a:t>Question No. 1</a:t>
            </a:r>
            <a:endParaRPr lang="en-US" sz="2800" b="1" dirty="0">
              <a:latin typeface="Bahnschrif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B23D3-0F85-448C-ABC8-BE343849E99E}"/>
              </a:ext>
            </a:extLst>
          </p:cNvPr>
          <p:cNvSpPr txBox="1"/>
          <p:nvPr/>
        </p:nvSpPr>
        <p:spPr>
          <a:xfrm>
            <a:off x="321724" y="852591"/>
            <a:ext cx="26789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Bahnschrift" panose="020B0502040204020203" pitchFamily="34" charset="0"/>
              </a:rPr>
              <a:t>Data Chart</a:t>
            </a:r>
            <a:endParaRPr lang="en-US" sz="3200" b="1" dirty="0">
              <a:latin typeface="Bahnschrift" panose="020B0502040204020203" pitchFamily="34" charset="0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87F863A-7E4D-4CEF-82E3-16E28B74B7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037062"/>
              </p:ext>
            </p:extLst>
          </p:nvPr>
        </p:nvGraphicFramePr>
        <p:xfrm>
          <a:off x="445980" y="1633183"/>
          <a:ext cx="6200775" cy="3969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90BB9D8-F116-45A8-9624-FACB4BAB0913}"/>
              </a:ext>
            </a:extLst>
          </p:cNvPr>
          <p:cNvSpPr txBox="1"/>
          <p:nvPr/>
        </p:nvSpPr>
        <p:spPr>
          <a:xfrm>
            <a:off x="7643813" y="1633183"/>
            <a:ext cx="3743325" cy="3231654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2400" b="1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Analytical Insights:</a:t>
            </a:r>
            <a:r>
              <a:rPr lang="en-US" sz="2400" dirty="0"/>
              <a:t> </a:t>
            </a:r>
            <a:br>
              <a:rPr lang="en-US" dirty="0"/>
            </a:br>
            <a:endParaRPr lang="en-US" dirty="0"/>
          </a:p>
          <a:p>
            <a:endParaRPr lang="en-US" sz="1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Spain Records the highest average credit score at 600.99, followed closely by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france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at 592.55 and Germany at 579.69. These averages are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evauated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across comparable sample sizes with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customeer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counts standing at 172 in Spain, 171 in France, and 157 in Germany.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8365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E8A5BE-9BD5-448C-BD61-DE132C0BFA9F}"/>
              </a:ext>
            </a:extLst>
          </p:cNvPr>
          <p:cNvSpPr/>
          <p:nvPr/>
        </p:nvSpPr>
        <p:spPr>
          <a:xfrm>
            <a:off x="11112000" y="5988629"/>
            <a:ext cx="1080000" cy="54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1-17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C3A48F-AE1B-4CBD-94FE-A4303B341E0D}"/>
              </a:ext>
            </a:extLst>
          </p:cNvPr>
          <p:cNvCxnSpPr>
            <a:cxnSpLocks/>
          </p:cNvCxnSpPr>
          <p:nvPr/>
        </p:nvCxnSpPr>
        <p:spPr>
          <a:xfrm flipV="1">
            <a:off x="2436825" y="6528629"/>
            <a:ext cx="8419861" cy="5772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9B2693F-2AFC-455A-902B-87ADA9E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7429" y="6163504"/>
            <a:ext cx="2743200" cy="365125"/>
          </a:xfrm>
        </p:spPr>
        <p:txBody>
          <a:bodyPr/>
          <a:lstStyle/>
          <a:p>
            <a:r>
              <a:rPr lang="en-US" sz="1400" i="1" dirty="0">
                <a:solidFill>
                  <a:schemeClr val="tx1"/>
                </a:solidFill>
                <a:latin typeface="Poor Richard" panose="02080502050505020702" pitchFamily="18" charset="0"/>
              </a:rPr>
              <a:t>Created By Apurva Ramteke</a:t>
            </a:r>
          </a:p>
        </p:txBody>
      </p:sp>
    </p:spTree>
    <p:extLst>
      <p:ext uri="{BB962C8B-B14F-4D97-AF65-F5344CB8AC3E}">
        <p14:creationId xmlns:p14="http://schemas.microsoft.com/office/powerpoint/2010/main" val="463252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1846</TotalTime>
  <Words>395</Words>
  <Application>Microsoft Office PowerPoint</Application>
  <PresentationFormat>Widescreen</PresentationFormat>
  <Paragraphs>78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Rounded MT Bold</vt:lpstr>
      <vt:lpstr>Bahnschrift</vt:lpstr>
      <vt:lpstr>Calibri</vt:lpstr>
      <vt:lpstr>Calibri Light</vt:lpstr>
      <vt:lpstr>Cambria</vt:lpstr>
      <vt:lpstr>Poor Richard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38</cp:revision>
  <dcterms:created xsi:type="dcterms:W3CDTF">2026-09-16T10:53:32Z</dcterms:created>
  <dcterms:modified xsi:type="dcterms:W3CDTF">2026-09-17T18:01:54Z</dcterms:modified>
</cp:coreProperties>
</file>